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69" r:id="rId14"/>
    <p:sldId id="271" r:id="rId15"/>
    <p:sldId id="273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10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A6EC2B-30AF-3B4C-BBC0-54D28B4798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5461B96-EDAC-BD83-0294-C2A80E7FB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4CBCF5-5B7D-D12E-B24E-3F5CAFA9C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692026-3008-8D42-2E2F-C2858FF09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BB079A8-8297-A9C5-555D-9EC92B44E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92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5833A-0DE4-A80A-06AE-1EB621296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6D08A5-5127-B4E9-EA2F-E8A17916D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66CA21-AA7F-8B8F-DE72-16ECF5D88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63801C-768F-B0F0-40A5-D4A04727E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95075-35A4-C936-1F78-D9C3A240D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891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0AC48A-7E7A-3FFE-7323-C6CBCA435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DBF380D-730D-E313-8291-126FFDCF0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C42ACA-D795-DE24-7A51-F3A3817C5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E2F108-0D42-C847-7252-7B05D6D21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44683E-E0B8-3289-E9DA-901FAF46E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958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D65F88-E713-CD32-94B2-2734C7F67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0C024F-96D4-C39F-7092-95A614243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4041DAB-C4AE-711D-6D48-ED47BC874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2F07A68-F6EE-8FF7-0C64-0992B229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79F467-4126-E110-D80A-06D30CFCD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E1EABE-58AF-D53F-E11E-035F6560E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54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5408B-416E-9CA3-AEF6-43312B0CB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6D77DB-70BE-3DA2-6527-865C83FC0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03E81A9-A67F-AD0C-4CB1-01B1128495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005F74D-79DC-90C7-0066-E6DF037552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3BC0F02-72C7-8893-3CCB-E82C447E5A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321962-00AC-9AA5-9A60-BC9D42CBF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8C375BD-36B0-C182-106C-E02919192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0D6F081-4FA3-AE25-4597-C58390BC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8698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72D925-DB31-2DBF-F672-378CFBE8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ABD92F3-B0DD-4B12-A7C4-46A10C383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A5D5234-B666-50BB-6E28-5D0E39848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E2B3E45-0696-632E-7F4E-4778197B2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2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2FC032B-DBA8-A205-087C-67AEC22C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2C5A02-44BA-1762-E556-2007DE6DA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9DFC166-73D5-9B34-A098-285F8D3D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3409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17490-91EC-61E7-259B-B94512823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3E34D0-3F54-4E8E-C4B1-FD77EC57A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146551E-B091-F818-65DD-54F4AD7D61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BD6D4FF-4416-5AE3-00C6-7E5F641C6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0FE8B97-BC27-1762-1562-6DED798C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6C09178-623E-7013-A67E-D08C3F740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45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1325FB-A568-DDBB-56D1-031BEA465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1296617-507D-A4BB-DBDD-A5B77F8BE4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B5997A-1D88-1FC5-D782-EB9866BAE4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46797B-1CB5-5F7A-58C5-8BF161680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0B356D-A97D-6AB8-ACD2-569F0D788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D84B3E4-A5B1-B99E-68D2-B43B6C641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741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DD7DCC-80F8-3678-7723-6FBFFF95B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16F1242-7C9C-23E0-80A3-C6E878105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9D0081-AE13-1C51-1C81-389D0A5BE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11B8BF-4092-4DBD-97AF-C869C568D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3EBB6F-A477-E55A-6A53-F4A477504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236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F5D6B6A-4008-B3FB-D06D-5D6765B14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92DC66-048A-7BBE-EAE0-AC95533EA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406A6F-3EFE-BFE5-AE9A-1C3D73CEC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623BB2-9849-CAA9-7DF4-F8A61994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DF9802-8245-0B06-FED1-0D96D016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164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621664-5E58-8D9F-EC0A-FC8C1F6F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07F98A-C410-5BB9-7911-6ACA0DDB5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C8898F-07C8-D4CC-FD79-314B53C00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21FB4E-363F-466D-9360-9089C43E6A9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936668-0B11-AB4E-D778-D82A6F66A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A50503-B317-9861-E44F-EB9A9F16C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093CAD-B3B6-4A91-8F13-D36E438613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6477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1671F49-5571-9492-1C4B-33A4F72A71C0}"/>
              </a:ext>
            </a:extLst>
          </p:cNvPr>
          <p:cNvSpPr txBox="1">
            <a:spLocks/>
          </p:cNvSpPr>
          <p:nvPr/>
        </p:nvSpPr>
        <p:spPr>
          <a:xfrm>
            <a:off x="1857712" y="569203"/>
            <a:ext cx="8507088" cy="130067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НАУКИ И ВЫСШЕГО ОБРАЗОВАНИЯ РОССИЙСКОЙ ФЕДЕРАЦИИ</a:t>
            </a:r>
            <a:b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«КУБАНСКИЙ ГОСУДАРСТВЕННЫЙ УНИВЕРСИТЕТ»</a:t>
            </a:r>
            <a:b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(ФГБОУ ВО «КубГУ»)</a:t>
            </a:r>
            <a:b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3063-458C-368C-40A7-3B5979CFF959}"/>
              </a:ext>
            </a:extLst>
          </p:cNvPr>
          <p:cNvSpPr txBox="1"/>
          <p:nvPr/>
        </p:nvSpPr>
        <p:spPr>
          <a:xfrm>
            <a:off x="2463540" y="3063805"/>
            <a:ext cx="75399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ИССЛЕДОВАНИЕ ЭКСПЕРТНОЙ СИСТЕМЫ ДЛЯ АВТОМАТИЗИРОВАННОГО КОНТРОЛЯ ЗНАНИЙ ПО ПРЕДМЕТУ “ДИСКРЕТНАЯ МАТЕМАТИКА”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4B2C76-9009-9558-E00B-1C90C3BC1EEF}"/>
              </a:ext>
            </a:extLst>
          </p:cNvPr>
          <p:cNvSpPr txBox="1"/>
          <p:nvPr/>
        </p:nvSpPr>
        <p:spPr>
          <a:xfrm>
            <a:off x="1857712" y="2247275"/>
            <a:ext cx="848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7DC22-F9E3-CDFD-B3A4-6F8714F36D96}"/>
              </a:ext>
            </a:extLst>
          </p:cNvPr>
          <p:cNvSpPr txBox="1"/>
          <p:nvPr/>
        </p:nvSpPr>
        <p:spPr>
          <a:xfrm>
            <a:off x="534925" y="5015316"/>
            <a:ext cx="42824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наук, доц.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5D390-CF89-909B-6611-38578D65A027}"/>
              </a:ext>
            </a:extLst>
          </p:cNvPr>
          <p:cNvSpPr txBox="1"/>
          <p:nvPr/>
        </p:nvSpPr>
        <p:spPr>
          <a:xfrm>
            <a:off x="8464296" y="5153815"/>
            <a:ext cx="32384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Д.В. Решетка</a:t>
            </a:r>
          </a:p>
          <a:p>
            <a:pPr algn="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О.В. Руденко</a:t>
            </a:r>
          </a:p>
        </p:txBody>
      </p:sp>
    </p:spTree>
    <p:extLst>
      <p:ext uri="{BB962C8B-B14F-4D97-AF65-F5344CB8AC3E}">
        <p14:creationId xmlns:p14="http://schemas.microsoft.com/office/powerpoint/2010/main" val="4267940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9CCF5B-391A-441A-A96A-78AD5DA5B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8586"/>
            <a:ext cx="10600944" cy="5058377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Цель работы – спроектировать и разработать распределённую экспертную систему тестирования знаний по дискретной математике, построенную на микросервисной архитектуре и обеспечивающую масштабируемость, отказоустойчивость и гибкое управление правилами оценки.</a:t>
            </a:r>
          </a:p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Для достижения поставленной цели были определены следующие задачи: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sz="20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</a:t>
            </a: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роанализировать существующие системы тестирования, выявить их ограничения и сформулировать требования к разрабатываемому комплексу, включая требования к пользовательским интерфейсам.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sz="20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Р</a:t>
            </a: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азработать модель критериев поэлементной оценки знаний и спроектировать микросервисную архитектуру системы с экспертной подсистемой.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sz="20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Р</a:t>
            </a: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еализовать веб-клиент и десктопное приложение тестирования, а также сервис сессий с механизмом логического вывода.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ru-RU" sz="20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</a:t>
            </a:r>
            <a:r>
              <a:rPr lang="ru-RU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ровести тестирование прототипа для проверки корректности экспертной оценки и работоспособности пользовательских интерфейсов.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2</a:t>
            </a:fld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672466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аналогов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3</a:t>
            </a:fld>
            <a:endParaRPr lang="ru-RU" sz="4400" dirty="0"/>
          </a:p>
        </p:txBody>
      </p:sp>
      <p:pic>
        <p:nvPicPr>
          <p:cNvPr id="6" name="Рисунок 5" descr="Изображение выглядит как снимок экрана, Графика, Шрифт, круг">
            <a:extLst>
              <a:ext uri="{FF2B5EF4-FFF2-40B4-BE49-F238E27FC236}">
                <a16:creationId xmlns:a16="http://schemas.microsoft.com/office/drawing/2014/main" id="{1959F24F-0306-DDC2-3ED6-DAC4FFB2A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45" y="1979156"/>
            <a:ext cx="4124272" cy="121813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F6A7F1C-1643-10E1-0592-3DC370EB6F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44976" y="2047780"/>
            <a:ext cx="5613938" cy="103040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C3D7EBA-EC9C-452C-9D20-A8CC8E8774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95381" y="3856841"/>
            <a:ext cx="5756564" cy="141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64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Общая архитектурная схема взаимодействия компонентов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4</a:t>
            </a:fld>
            <a:endParaRPr lang="ru-RU" sz="4400" dirty="0"/>
          </a:p>
        </p:txBody>
      </p:sp>
      <p:pic>
        <p:nvPicPr>
          <p:cNvPr id="7" name="Рисунок 6" descr="Изображение выглядит как диаграмма, текст, линия, План">
            <a:extLst>
              <a:ext uri="{FF2B5EF4-FFF2-40B4-BE49-F238E27FC236}">
                <a16:creationId xmlns:a16="http://schemas.microsoft.com/office/drawing/2014/main" id="{93E0B18A-5762-73DA-36A3-9ED57B185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86" y="1842180"/>
            <a:ext cx="11359627" cy="317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22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связей между документами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5</a:t>
            </a:fld>
            <a:endParaRPr lang="ru-RU" sz="4400" dirty="0"/>
          </a:p>
        </p:txBody>
      </p:sp>
      <p:pic>
        <p:nvPicPr>
          <p:cNvPr id="9" name="Рисунок 8" descr="Изображение выглядит как диаграмма, текст, План, Технический чертеж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9DC1207-0E9A-C9C3-AE86-9150A5556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270" y="878163"/>
            <a:ext cx="9927460" cy="5614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836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Экспертная подсистема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6</a:t>
            </a:fld>
            <a:endParaRPr lang="ru-RU" sz="4400" dirty="0"/>
          </a:p>
        </p:txBody>
      </p:sp>
      <p:pic>
        <p:nvPicPr>
          <p:cNvPr id="5" name="Рисунок 4" descr="Изображение выглядит как текст, снимок экрана, диаграмма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2AF96AE-783D-66F5-0115-A20EA27F5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8736" y="1008109"/>
            <a:ext cx="4994528" cy="548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380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 и регистрация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7</a:t>
            </a:fld>
            <a:endParaRPr lang="ru-RU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B71ED8-BAF2-85C6-C3AB-B0EBBD835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565" y="1515833"/>
            <a:ext cx="3828548" cy="443657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900AF99-4102-7261-B3D8-463B64FD4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698" y="1238100"/>
            <a:ext cx="3009331" cy="4992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09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пользователями и ролями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8</a:t>
            </a:fld>
            <a:endParaRPr lang="ru-RU" sz="4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D958FB3-B90B-7D9D-BAA0-2B9DECEC8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48770"/>
            <a:ext cx="10064574" cy="189026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78DBC48-C0E0-2486-B627-7A190C481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29000"/>
            <a:ext cx="9868861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27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 вопросов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9</a:t>
            </a:fld>
            <a:endParaRPr lang="ru-RU" sz="4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6986AC6-08F4-90A8-A7FE-E09E8A940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58" y="887768"/>
            <a:ext cx="4212107" cy="554367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E866CF-57AE-5284-364F-C22E2B158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984" y="1878438"/>
            <a:ext cx="6821677" cy="310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86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теста и публикация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10</a:t>
            </a:fld>
            <a:endParaRPr lang="ru-RU" sz="44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CBC98B6-9C84-8E4A-1FF9-EC0521E39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23698"/>
            <a:ext cx="10264989" cy="50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236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теста и публикация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11</a:t>
            </a:fld>
            <a:endParaRPr lang="ru-RU" sz="44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4048C1-D1F2-C830-ED9F-E3325A0E9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241" y="887768"/>
            <a:ext cx="7453518" cy="57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161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критериев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12</a:t>
            </a:fld>
            <a:endParaRPr lang="ru-RU" sz="4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5414B8D-649B-29F2-7C50-01D781C57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305" y="1171260"/>
            <a:ext cx="7668695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109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Прохождение теста и результаты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13</a:t>
            </a:fld>
            <a:endParaRPr lang="ru-RU" sz="4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77429FE-0BB1-9E95-CED9-12B2BE893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56" y="1152450"/>
            <a:ext cx="4455994" cy="54427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7C638A7-4FC3-4914-22B4-7550CB8FA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627" y="2582521"/>
            <a:ext cx="6953535" cy="1692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000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тесту для преподавателя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14</a:t>
            </a:fld>
            <a:endParaRPr lang="ru-RU" sz="44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C818E01-2A7F-B622-2F62-A4A5963A2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54" y="1126954"/>
            <a:ext cx="6026199" cy="548538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9162B45-AE23-F89C-CB4A-695212D59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516" y="1090923"/>
            <a:ext cx="3777147" cy="545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948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 descr="Изображение выглядит как шаблон, прямоугольный, пиксель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E1A1C7A-76EF-6F72-076C-62DEB7283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0" t="4549" r="4449" b="4549"/>
          <a:stretch/>
        </p:blipFill>
        <p:spPr>
          <a:xfrm>
            <a:off x="6543323" y="1147419"/>
            <a:ext cx="4776717" cy="4769892"/>
          </a:xfrm>
          <a:prstGeom prst="rect">
            <a:avLst/>
          </a:prstGeom>
        </p:spPr>
      </p:pic>
      <p:pic>
        <p:nvPicPr>
          <p:cNvPr id="10" name="Рисунок 9" descr="Изображение выглядит как шаблон, прямоугольный, Симметрия,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9F16EB1-9E1F-078B-1627-F5379D19E3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6" t="6396" r="6182" b="6147"/>
          <a:stretch/>
        </p:blipFill>
        <p:spPr>
          <a:xfrm>
            <a:off x="871963" y="1147419"/>
            <a:ext cx="4776716" cy="47698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C646A-788F-4874-840A-A52EEC593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158" y="365126"/>
            <a:ext cx="10515600" cy="522642"/>
          </a:xfrm>
        </p:spPr>
        <p:txBody>
          <a:bodyPr>
            <a:no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742D18-EF0F-2CCA-3B72-38030B27F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76963"/>
            <a:ext cx="2743200" cy="365125"/>
          </a:xfrm>
        </p:spPr>
        <p:txBody>
          <a:bodyPr/>
          <a:lstStyle/>
          <a:p>
            <a:fld id="{40CEF85B-4928-4330-BA98-C984623441A6}" type="slidenum">
              <a:rPr lang="ru-RU" sz="4400" smtClean="0"/>
              <a:pPr/>
              <a:t>15</a:t>
            </a:fld>
            <a:endParaRPr lang="ru-RU" sz="4400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D7ACEB9-8E4D-F6D4-E4FE-B07F76D7DDCA}"/>
              </a:ext>
            </a:extLst>
          </p:cNvPr>
          <p:cNvSpPr txBox="1">
            <a:spLocks/>
          </p:cNvSpPr>
          <p:nvPr/>
        </p:nvSpPr>
        <p:spPr>
          <a:xfrm>
            <a:off x="1035454" y="5978062"/>
            <a:ext cx="4419743" cy="5226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Разработанная система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A1A14166-BF9C-1BE8-BCF8-BA27BA56A961}"/>
              </a:ext>
            </a:extLst>
          </p:cNvPr>
          <p:cNvSpPr txBox="1">
            <a:spLocks/>
          </p:cNvSpPr>
          <p:nvPr/>
        </p:nvSpPr>
        <p:spPr>
          <a:xfrm>
            <a:off x="6721809" y="5978062"/>
            <a:ext cx="4419743" cy="5226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5337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238</Words>
  <Application>Microsoft Office PowerPoint</Application>
  <PresentationFormat>Широкоэкранный</PresentationFormat>
  <Paragraphs>46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Цель и задачи</vt:lpstr>
      <vt:lpstr>Анализ аналогов</vt:lpstr>
      <vt:lpstr>Общая архитектурная схема взаимодействия компонентов</vt:lpstr>
      <vt:lpstr>ER-диаграмма связей между документами</vt:lpstr>
      <vt:lpstr>Экспертная подсистема</vt:lpstr>
      <vt:lpstr>Авторизация и регистрация</vt:lpstr>
      <vt:lpstr>Управление пользователями и ролями</vt:lpstr>
      <vt:lpstr>Банк вопросов</vt:lpstr>
      <vt:lpstr>Создание теста и публикация</vt:lpstr>
      <vt:lpstr>Создание теста и публикация</vt:lpstr>
      <vt:lpstr>Настройка критериев</vt:lpstr>
      <vt:lpstr>Прохождение теста и результаты</vt:lpstr>
      <vt:lpstr>Отчёт по тесту для преподавателя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rim</dc:creator>
  <cp:lastModifiedBy>rim</cp:lastModifiedBy>
  <cp:revision>10</cp:revision>
  <dcterms:created xsi:type="dcterms:W3CDTF">2026-06-07T19:59:34Z</dcterms:created>
  <dcterms:modified xsi:type="dcterms:W3CDTF">2026-06-08T21:31:18Z</dcterms:modified>
</cp:coreProperties>
</file>