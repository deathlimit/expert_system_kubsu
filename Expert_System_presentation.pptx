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4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7" r:id="rId12"/>
    <p:sldId id="267" r:id="rId13"/>
    <p:sldId id="268" r:id="rId14"/>
    <p:sldId id="270" r:id="rId15"/>
    <p:sldId id="269" r:id="rId16"/>
    <p:sldId id="271" r:id="rId17"/>
    <p:sldId id="275" r:id="rId18"/>
    <p:sldId id="276" r:id="rId19"/>
    <p:sldId id="27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6EC2B-30AF-3B4C-BBC0-54D28B479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461B96-EDAC-BD83-0294-C2A80E7FB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CBCF5-5B7D-D12E-B24E-3F5CAFA9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692026-3008-8D42-2E2F-C2858FF0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B079A8-8297-A9C5-555D-9EC92B44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5833A-0DE4-A80A-06AE-1EB62129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D08A5-5127-B4E9-EA2F-E8A17916D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6CA21-AA7F-8B8F-DE72-16ECF5D8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63801C-768F-B0F0-40A5-D4A04727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A95075-35A4-C936-1F78-D9C3A240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91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AC48A-7E7A-3FFE-7323-C6CBCA43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BF380D-730D-E313-8291-126FFDCF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42ACA-D795-DE24-7A51-F3A3817C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E2F108-0D42-C847-7252-7B05D6D2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44683E-E0B8-3289-E9DA-901FAF46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95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65F88-E713-CD32-94B2-2734C7F6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C024F-96D4-C39F-7092-95A614243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041DAB-C4AE-711D-6D48-ED47BC874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F07A68-F6EE-8FF7-0C64-0992B229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79F467-4126-E110-D80A-06D30CFC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1EABE-58AF-D53F-E11E-035F6560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54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5408B-416E-9CA3-AEF6-43312B0C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6D77DB-70BE-3DA2-6527-865C83FC0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3E81A9-A67F-AD0C-4CB1-01B112849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05F74D-79DC-90C7-0066-E6DF03755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BC0F02-72C7-8893-3CCB-E82C447E5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321962-00AC-9AA5-9A60-BC9D42CB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C375BD-36B0-C182-106C-E0291919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D6F081-4FA3-AE25-4597-C58390BC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6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2D925-DB31-2DBF-F672-378CFBE8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BD92F3-B0DD-4B12-A7C4-46A10C38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5D5234-B666-50BB-6E28-5D0E3984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2B3E45-0696-632E-7F4E-4778197B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23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FC032B-DBA8-A205-087C-67AEC22C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2C5A02-44BA-1762-E556-2007DE6D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FC166-73D5-9B34-A098-285F8D3D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40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17490-91EC-61E7-259B-B9451282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3E34D0-3F54-4E8E-C4B1-FD77EC57A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46551E-B091-F818-65DD-54F4AD7D6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D6D4FF-4416-5AE3-00C6-7E5F641C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FE8B97-BC27-1762-1562-6DED798C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C09178-623E-7013-A67E-D08C3F74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5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325FB-A568-DDBB-56D1-031BEA465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296617-507D-A4BB-DBDD-A5B77F8BE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B5997A-1D88-1FC5-D782-EB9866BA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46797B-1CB5-5F7A-58C5-8BF16168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0B356D-A97D-6AB8-ACD2-569F0D78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84B3E4-A5B1-B99E-68D2-B43B6C64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41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D7DCC-80F8-3678-7723-6FBFFF95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6F1242-7C9C-23E0-80A3-C6E878105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D0081-AE13-1C51-1C81-389D0A5B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11B8BF-4092-4DBD-97AF-C869C568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3EBB6F-A477-E55A-6A53-F4A47750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3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5D6B6A-4008-B3FB-D06D-5D6765B14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92DC66-048A-7BBE-EAE0-AC95533EA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406A6F-3EFE-BFE5-AE9A-1C3D73CE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23BB2-9849-CAA9-7DF4-F8A61994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DF9802-8245-0B06-FED1-0D96D01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64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21664-5E58-8D9F-EC0A-FC8C1F6F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07F98A-C410-5BB9-7911-6ACA0DDB5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C8898F-07C8-D4CC-FD79-314B53C00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1FB4E-363F-466D-9360-9089C43E6A9A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36668-0B11-AB4E-D778-D82A6F66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A50503-B317-9861-E44F-EB9A9F16C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93CAD-B3B6-4A91-8F13-D36E438613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477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671F49-5571-9492-1C4B-33A4F72A71C0}"/>
              </a:ext>
            </a:extLst>
          </p:cNvPr>
          <p:cNvSpPr txBox="1">
            <a:spLocks/>
          </p:cNvSpPr>
          <p:nvPr/>
        </p:nvSpPr>
        <p:spPr>
          <a:xfrm>
            <a:off x="1842456" y="525469"/>
            <a:ext cx="8507088" cy="13006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НАУКИ И ВЫСШЕГО ОБРАЗОВАНИЯ РОССИЙСКОЙ ФЕДЕРАЦИИ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«КУБАНСКИЙ ГОСУДАРСТВЕННЫЙ УНИВЕРСИТЕТ»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(ФГБОУ ВО «КубГУ»)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93063-458C-368C-40A7-3B5979CFF959}"/>
              </a:ext>
            </a:extLst>
          </p:cNvPr>
          <p:cNvSpPr txBox="1"/>
          <p:nvPr/>
        </p:nvSpPr>
        <p:spPr>
          <a:xfrm>
            <a:off x="2326002" y="3345657"/>
            <a:ext cx="753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ИССЛЕДОВАНИЕ ЭКСПЕРТНОЙ СИСТЕМЫ ДЛЯ АВТОМАТИЗИРОВАННОГО КОНТРОЛЯ ЗНАНИЙ ПО ПРЕДМЕТУ “ДИСКРЕТНАЯ МАТЕМАТИКА”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B2C76-9009-9558-E00B-1C90C3BC1EEF}"/>
              </a:ext>
            </a:extLst>
          </p:cNvPr>
          <p:cNvSpPr txBox="1"/>
          <p:nvPr/>
        </p:nvSpPr>
        <p:spPr>
          <a:xfrm>
            <a:off x="1842456" y="2359589"/>
            <a:ext cx="848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7DC22-F9E3-CDFD-B3A4-6F8714F36D96}"/>
              </a:ext>
            </a:extLst>
          </p:cNvPr>
          <p:cNvSpPr txBox="1"/>
          <p:nvPr/>
        </p:nvSpPr>
        <p:spPr>
          <a:xfrm>
            <a:off x="473634" y="5197385"/>
            <a:ext cx="4282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канд.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наук, доц.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5D390-CF89-909B-6611-38578D65A027}"/>
              </a:ext>
            </a:extLst>
          </p:cNvPr>
          <p:cNvSpPr txBox="1"/>
          <p:nvPr/>
        </p:nvSpPr>
        <p:spPr>
          <a:xfrm>
            <a:off x="8479867" y="5335884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Д.В. Решетка</a:t>
            </a:r>
          </a:p>
          <a:p>
            <a:pPr algn="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О.В. Руденко</a:t>
            </a:r>
          </a:p>
        </p:txBody>
      </p:sp>
    </p:spTree>
    <p:extLst>
      <p:ext uri="{BB962C8B-B14F-4D97-AF65-F5344CB8AC3E}">
        <p14:creationId xmlns:p14="http://schemas.microsoft.com/office/powerpoint/2010/main" val="4267940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шаблон, прямоугольный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D6EB515-A2DA-00D1-67DB-4D291D3C9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0" t="4549" r="4449" b="4549"/>
          <a:stretch/>
        </p:blipFill>
        <p:spPr>
          <a:xfrm>
            <a:off x="4530500" y="1865736"/>
            <a:ext cx="3131000" cy="3126527"/>
          </a:xfrm>
          <a:prstGeom prst="rect">
            <a:avLst/>
          </a:prstGeom>
        </p:spPr>
      </p:pic>
      <p:pic>
        <p:nvPicPr>
          <p:cNvPr id="3" name="Рисунок 2" descr="Изображение выглядит как шаблон, прямоугольный, Симметрия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291F1C5-2D40-5F12-DCD9-A8234DF54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6396" r="6182" b="6147"/>
          <a:stretch/>
        </p:blipFill>
        <p:spPr>
          <a:xfrm>
            <a:off x="735053" y="1865736"/>
            <a:ext cx="3131000" cy="3126527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BCB7199-CFED-AC95-F32B-AC69333E0794}"/>
              </a:ext>
            </a:extLst>
          </p:cNvPr>
          <p:cNvSpPr txBox="1">
            <a:spLocks/>
          </p:cNvSpPr>
          <p:nvPr/>
        </p:nvSpPr>
        <p:spPr>
          <a:xfrm>
            <a:off x="806693" y="5505067"/>
            <a:ext cx="4150895" cy="1181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123123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2C2A8606-18BC-D4E5-3B35-9A81F283BEE3}"/>
              </a:ext>
            </a:extLst>
          </p:cNvPr>
          <p:cNvSpPr txBox="1">
            <a:spLocks/>
          </p:cNvSpPr>
          <p:nvPr/>
        </p:nvSpPr>
        <p:spPr>
          <a:xfrm>
            <a:off x="3886128" y="5077957"/>
            <a:ext cx="4419743" cy="52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0E9C983-F978-1A0B-69A9-DBE1F08C46FC}"/>
              </a:ext>
            </a:extLst>
          </p:cNvPr>
          <p:cNvSpPr txBox="1">
            <a:spLocks/>
          </p:cNvSpPr>
          <p:nvPr/>
        </p:nvSpPr>
        <p:spPr>
          <a:xfrm>
            <a:off x="735053" y="5174473"/>
            <a:ext cx="4150895" cy="331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</a:t>
            </a:r>
          </a:p>
        </p:txBody>
      </p:sp>
      <p:pic>
        <p:nvPicPr>
          <p:cNvPr id="13" name="Рисунок 12" descr="Изображение выглядит как шаблон, прямоугольный, пиксель">
            <a:extLst>
              <a:ext uri="{FF2B5EF4-FFF2-40B4-BE49-F238E27FC236}">
                <a16:creationId xmlns:a16="http://schemas.microsoft.com/office/drawing/2014/main" id="{5542E2C7-59AD-0975-3775-C7AB3E662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2" t="4332" r="4349" b="4518"/>
          <a:stretch/>
        </p:blipFill>
        <p:spPr>
          <a:xfrm>
            <a:off x="8325946" y="1865736"/>
            <a:ext cx="3131001" cy="3131001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1C47D42-3567-9966-BC15-B4F98A92C392}"/>
              </a:ext>
            </a:extLst>
          </p:cNvPr>
          <p:cNvSpPr txBox="1">
            <a:spLocks/>
          </p:cNvSpPr>
          <p:nvPr/>
        </p:nvSpPr>
        <p:spPr>
          <a:xfrm>
            <a:off x="9180204" y="5173487"/>
            <a:ext cx="4150895" cy="331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Пройти тест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FE5662C-4E3B-C379-C239-73BAE2E0CA94}"/>
              </a:ext>
            </a:extLst>
          </p:cNvPr>
          <p:cNvSpPr txBox="1">
            <a:spLocks/>
          </p:cNvSpPr>
          <p:nvPr/>
        </p:nvSpPr>
        <p:spPr>
          <a:xfrm>
            <a:off x="838199" y="518244"/>
            <a:ext cx="10515600" cy="52264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Ссылки</a:t>
            </a:r>
          </a:p>
        </p:txBody>
      </p:sp>
    </p:spTree>
    <p:extLst>
      <p:ext uri="{BB962C8B-B14F-4D97-AF65-F5344CB8AC3E}">
        <p14:creationId xmlns:p14="http://schemas.microsoft.com/office/powerpoint/2010/main" val="238542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CCF5B-391A-441A-A96A-78AD5DA5B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586"/>
            <a:ext cx="10600944" cy="505837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Цель работы – спроектировать и разработать распределённую экспертную систему тестирования знаний по дискретной математике, построенную на микросервисной архитектуре и обеспечивающую масштабируемость, отказоустойчивость и гибкое управление правилами оценки.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достижения поставленной цели были определены следующие задачи: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роанализировать существующие системы тестирования, выявить их ограничения и сформулировать требования к разрабатываемому комплексу, включая требования к пользовательским интерфейсам.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азработать модель критериев оценки знаний и спроектировать микросервисную архитектуру системы с экспертной подсистемой.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еализовать веб-клиент и десктопное приложение тестирования, а также сервис сессий с механизмом логического вывода.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ровести тестирование прототипа для проверки корректности экспертной оценки и работоспособности пользовательских интерфейсов.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3</a:t>
            </a:fld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67246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4</a:t>
            </a:fld>
            <a:endParaRPr lang="ru-RU" sz="4400" dirty="0"/>
          </a:p>
        </p:txBody>
      </p:sp>
      <p:pic>
        <p:nvPicPr>
          <p:cNvPr id="6" name="Рисунок 5" descr="Изображение выглядит как снимок экрана, Графика, Шрифт, круг">
            <a:extLst>
              <a:ext uri="{FF2B5EF4-FFF2-40B4-BE49-F238E27FC236}">
                <a16:creationId xmlns:a16="http://schemas.microsoft.com/office/drawing/2014/main" id="{1959F24F-0306-DDC2-3ED6-DAC4FFB2A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92" y="2045117"/>
            <a:ext cx="4373535" cy="12917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F6A7F1C-1643-10E1-0592-3DC370EB6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9862" y="1350185"/>
            <a:ext cx="5613938" cy="10304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C3D7EBA-EC9C-452C-9D20-A8CC8E8774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56" y="3982850"/>
            <a:ext cx="5756564" cy="14111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5A7D9B-4ADB-41A3-C32C-FE9585E3F1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871" y="2843009"/>
            <a:ext cx="5058807" cy="14926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9FE595-5664-C370-9165-B9A924A1D3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354" y="4762144"/>
            <a:ext cx="3134571" cy="149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6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архитектурная схема взаимодействия компонентов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5</a:t>
            </a:fld>
            <a:endParaRPr lang="ru-RU" sz="4400" dirty="0"/>
          </a:p>
        </p:txBody>
      </p:sp>
      <p:pic>
        <p:nvPicPr>
          <p:cNvPr id="7" name="Рисунок 6" descr="Изображение выглядит как диаграмма, текст, линия, План">
            <a:extLst>
              <a:ext uri="{FF2B5EF4-FFF2-40B4-BE49-F238E27FC236}">
                <a16:creationId xmlns:a16="http://schemas.microsoft.com/office/drawing/2014/main" id="{93E0B18A-5762-73DA-36A3-9ED57B185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86" y="1842180"/>
            <a:ext cx="11359627" cy="317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2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диаграмма, текст, План, Технический чертеж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9DC1207-0E9A-C9C3-AE86-9150A5556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4" y="721885"/>
            <a:ext cx="10710527" cy="60575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243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связей между документами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6</a:t>
            </a:fld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92183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797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Экспертная подсистема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7</a:t>
            </a:fld>
            <a:endParaRPr lang="ru-RU" sz="4400" dirty="0"/>
          </a:p>
        </p:txBody>
      </p:sp>
      <p:pic>
        <p:nvPicPr>
          <p:cNvPr id="5" name="Рисунок 4" descr="Изображение выглядит как текст, снимок экрана, диаграмма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AF96AE-783D-66F5-0115-A20EA27F5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997" y="733751"/>
            <a:ext cx="5576854" cy="612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8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и регистрация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8</a:t>
            </a:fld>
            <a:endParaRPr lang="ru-RU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B71ED8-BAF2-85C6-C3AB-B0EBBD835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6104"/>
            <a:ext cx="4381009" cy="50767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00AF99-4102-7261-B3D8-463B64FD4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804" y="1016779"/>
            <a:ext cx="3384645" cy="56146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809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пользователями и ролями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9</a:t>
            </a:fld>
            <a:endParaRPr lang="ru-RU" sz="4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8DBC48-C0E0-2486-B627-7A190C48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084571" cy="28080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547133-43ED-FF95-C85A-780AC6A2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6395"/>
            <a:ext cx="10084571" cy="17411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527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 вопросов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10</a:t>
            </a:fld>
            <a:endParaRPr lang="ru-RU" sz="4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986AC6-08F4-90A8-A7FE-E09E8A94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" y="735090"/>
            <a:ext cx="4328112" cy="56963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E866CF-57AE-5284-364F-C22E2B158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146" y="1809148"/>
            <a:ext cx="7126520" cy="32397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6686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теста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11</a:t>
            </a:fld>
            <a:endParaRPr lang="ru-RU" sz="4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2D88FB-EB73-F69D-861B-4BFCDB61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11" y="887768"/>
            <a:ext cx="5980977" cy="58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37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теста и публикация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12</a:t>
            </a:fld>
            <a:endParaRPr lang="ru-RU" sz="4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BC98B6-9C84-8E4A-1FF9-EC0521E3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2" y="939622"/>
            <a:ext cx="10541314" cy="518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36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теста и публикация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13</a:t>
            </a:fld>
            <a:endParaRPr lang="ru-RU" sz="4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4048C1-D1F2-C830-ED9F-E3325A0E9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9" y="849726"/>
            <a:ext cx="7502640" cy="581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6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критериев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14</a:t>
            </a:fld>
            <a:endParaRPr lang="ru-RU" sz="4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9C1179-F9EA-B15B-E67A-18A6998F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62" y="996812"/>
            <a:ext cx="8462876" cy="48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09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Прохождение теста и результаты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15</a:t>
            </a:fld>
            <a:endParaRPr lang="ru-RU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7429FE-0BB1-9E95-CED9-12B2BE89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56" y="1152450"/>
            <a:ext cx="4455994" cy="54427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C638A7-4FC3-4914-22B4-7550CB8FA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27" y="2582521"/>
            <a:ext cx="6953535" cy="16929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400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тесту для преподавателя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16</a:t>
            </a:fld>
            <a:endParaRPr lang="ru-RU" sz="4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818E01-2A7F-B622-2F62-A4A5963A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0" t="1973" r="1082" b="2178"/>
          <a:stretch/>
        </p:blipFill>
        <p:spPr>
          <a:xfrm>
            <a:off x="464023" y="1235121"/>
            <a:ext cx="5813947" cy="52577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162B45-AE23-F89C-CB4A-695212D59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4" t="1017" r="1359" b="903"/>
          <a:stretch/>
        </p:blipFill>
        <p:spPr>
          <a:xfrm>
            <a:off x="6660107" y="1146412"/>
            <a:ext cx="3671248" cy="53464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894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Десктопное приложение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17</a:t>
            </a:fld>
            <a:endParaRPr lang="ru-RU" sz="4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566C87-0163-A6AB-F6A5-0591A6F9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40" y="1631231"/>
            <a:ext cx="5351060" cy="359553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D4B89E-323B-4267-ECD5-63215BC1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48" y="1362770"/>
            <a:ext cx="4832509" cy="438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59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Десктопное приложение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18</a:t>
            </a:fld>
            <a:endParaRPr lang="ru-RU" sz="4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73DEAB-952A-A8F4-B56D-31A7319B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4"/>
          <a:stretch/>
        </p:blipFill>
        <p:spPr>
          <a:xfrm>
            <a:off x="310265" y="887768"/>
            <a:ext cx="5735693" cy="57964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77DAD2-CDAD-40D0-1BBD-B0C1456B2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992" y="887561"/>
            <a:ext cx="3582539" cy="579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77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58" y="365126"/>
            <a:ext cx="10515600" cy="52264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40CEF85B-4928-4330-BA98-C984623441A6}" type="slidenum">
              <a:rPr lang="ru-RU" sz="4400" smtClean="0"/>
              <a:pPr/>
              <a:t>19</a:t>
            </a:fld>
            <a:endParaRPr lang="ru-RU" sz="4400" dirty="0"/>
          </a:p>
        </p:txBody>
      </p:sp>
      <p:pic>
        <p:nvPicPr>
          <p:cNvPr id="3" name="Рисунок 2" descr="Изображение выглядит как шаблон, прямоугольный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50B01-A9A7-FB43-8190-94672ACD8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0" t="4549" r="4449" b="4549"/>
          <a:stretch/>
        </p:blipFill>
        <p:spPr>
          <a:xfrm>
            <a:off x="4245848" y="1355929"/>
            <a:ext cx="3131000" cy="3126527"/>
          </a:xfrm>
          <a:prstGeom prst="rect">
            <a:avLst/>
          </a:prstGeom>
        </p:spPr>
      </p:pic>
      <p:pic>
        <p:nvPicPr>
          <p:cNvPr id="5" name="Рисунок 4" descr="Изображение выглядит как шаблон, прямоугольный, Симметрия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53CB8DA-0CB1-1CAA-C4E5-2EDCC0850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6396" r="6182" b="6147"/>
          <a:stretch/>
        </p:blipFill>
        <p:spPr>
          <a:xfrm>
            <a:off x="450401" y="1355929"/>
            <a:ext cx="3131000" cy="312652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B67087-1C57-7C17-EBAE-15E287F27D5B}"/>
              </a:ext>
            </a:extLst>
          </p:cNvPr>
          <p:cNvSpPr txBox="1">
            <a:spLocks/>
          </p:cNvSpPr>
          <p:nvPr/>
        </p:nvSpPr>
        <p:spPr>
          <a:xfrm>
            <a:off x="522041" y="4995260"/>
            <a:ext cx="4150895" cy="1181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123123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F0D2A6A-6CEE-3001-0D0C-816A4F95BF5E}"/>
              </a:ext>
            </a:extLst>
          </p:cNvPr>
          <p:cNvSpPr txBox="1">
            <a:spLocks/>
          </p:cNvSpPr>
          <p:nvPr/>
        </p:nvSpPr>
        <p:spPr>
          <a:xfrm>
            <a:off x="3601476" y="4568150"/>
            <a:ext cx="4419743" cy="52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F99F7B1-2990-7F8A-DEA8-5A221B770248}"/>
              </a:ext>
            </a:extLst>
          </p:cNvPr>
          <p:cNvSpPr txBox="1">
            <a:spLocks/>
          </p:cNvSpPr>
          <p:nvPr/>
        </p:nvSpPr>
        <p:spPr>
          <a:xfrm>
            <a:off x="450401" y="4664666"/>
            <a:ext cx="4150895" cy="331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</a:t>
            </a:r>
          </a:p>
        </p:txBody>
      </p:sp>
      <p:pic>
        <p:nvPicPr>
          <p:cNvPr id="9" name="Рисунок 8" descr="Изображение выглядит как шаблон, прямоугольный, пиксель">
            <a:extLst>
              <a:ext uri="{FF2B5EF4-FFF2-40B4-BE49-F238E27FC236}">
                <a16:creationId xmlns:a16="http://schemas.microsoft.com/office/drawing/2014/main" id="{12202700-8972-49DB-F236-5EBE661B4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2" t="4332" r="4349" b="4518"/>
          <a:stretch/>
        </p:blipFill>
        <p:spPr>
          <a:xfrm>
            <a:off x="8041294" y="1355929"/>
            <a:ext cx="3131001" cy="3131001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DD9D993-66A1-46FD-3FBC-3A62D58B782D}"/>
              </a:ext>
            </a:extLst>
          </p:cNvPr>
          <p:cNvSpPr txBox="1">
            <a:spLocks/>
          </p:cNvSpPr>
          <p:nvPr/>
        </p:nvSpPr>
        <p:spPr>
          <a:xfrm>
            <a:off x="8895552" y="4663680"/>
            <a:ext cx="4150895" cy="331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Пройти тест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5337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260</Words>
  <Application>Microsoft Office PowerPoint</Application>
  <PresentationFormat>Широкоэкранный</PresentationFormat>
  <Paragraphs>59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Цель и задачи</vt:lpstr>
      <vt:lpstr>Анализ аналогов</vt:lpstr>
      <vt:lpstr>Общая архитектурная схема взаимодействия компонентов</vt:lpstr>
      <vt:lpstr>ER-диаграмма связей между документами</vt:lpstr>
      <vt:lpstr>Экспертная подсистема</vt:lpstr>
      <vt:lpstr>Авторизация и регистрация</vt:lpstr>
      <vt:lpstr>Управление пользователями и ролями</vt:lpstr>
      <vt:lpstr>Банк вопросов</vt:lpstr>
      <vt:lpstr>Генерация теста</vt:lpstr>
      <vt:lpstr>Создание теста и публикация</vt:lpstr>
      <vt:lpstr>Создание теста и публикация</vt:lpstr>
      <vt:lpstr>Настройка критериев</vt:lpstr>
      <vt:lpstr>Прохождение теста и результаты</vt:lpstr>
      <vt:lpstr>Отчёт по тесту для преподавателя</vt:lpstr>
      <vt:lpstr>Десктопное приложение</vt:lpstr>
      <vt:lpstr>Десктопное приложение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rim</dc:creator>
  <cp:lastModifiedBy>rim</cp:lastModifiedBy>
  <cp:revision>36</cp:revision>
  <dcterms:created xsi:type="dcterms:W3CDTF">2026-06-07T19:59:34Z</dcterms:created>
  <dcterms:modified xsi:type="dcterms:W3CDTF">2026-06-25T20:18:37Z</dcterms:modified>
</cp:coreProperties>
</file>